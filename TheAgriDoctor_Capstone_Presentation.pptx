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CAPSTONE PROJECT  •  CSE445  •  January–May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6400" b="1">
                <a:solidFill>
                  <a:srgbClr val="1B5E20"/>
                </a:solidFill>
                <a:latin typeface="Calibri"/>
              </a:rPr>
              <a:t>TheAgriDoctor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1752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263238"/>
                </a:solidFill>
                <a:latin typeface="Calibri"/>
              </a:rPr>
              <a:t>An AI-Powered Crop Disease Diagnosis, Advisory 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7472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0">
                <a:solidFill>
                  <a:srgbClr val="263238"/>
                </a:solidFill>
                <a:latin typeface="Calibri"/>
              </a:rPr>
              <a:t>Farm-Management Platform for Indian Smallholder Farmers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263238"/>
                </a:solidFill>
                <a:latin typeface="Calibri"/>
              </a:rPr>
              <a:t>Submitted by:  Ajay Reddy  •  Team Member 2  •  Team Member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Mentor: (Name of Faculty Mentor) — School of Computer Science &amp;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Lovely Professional University, Phagwara, Punjab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08076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What we will cover in the next ~25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Why we built TheAgriDoctor — the problem &amp; motivation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Where existing tools fall short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Scope, objectives and project plan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Software requirements (functional + non-functional)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System architecture and use-case overview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Data-flow diagrams (Levels 0 → 3)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Database design (ER diagram &amp; schema)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Process flowcharts (Diagnose, Advisor, Auth)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Implementation highlights &amp; tech stack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Testing approach and current status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Live demo  •  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 / 35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3 / 35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The smallholder farmer’s reality in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≈45 % of India’s workforce still lives off agriculture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20–35 % of every harvest is lost to pests &amp; disease — most of it preventable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One extension officer per 1,000+ farmers → answers arrive too late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Smartphones are everywhere; structured agronomic help is not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Free LLM tiers + Supabase + Vercel finally make a free unified product feasible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4 / 35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Today: agri-shop, KVK SMS, WhatsApp groups, 4–5 single-purpose apps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Each silo answers part of the question; none remember the farm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English-first UIs lock out the majority language base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Generic advice ignores soil, water, season, growth stage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We need: one screen — image-in, structured answer-out — in the farmer’s language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5 / 35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Existing Systems — What’s missing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705394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System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Strength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Limitation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Plantix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Fast image diagnosis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Closed model, English-heavy, ad-driven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Kisan Suvidha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Govt-backed, weather + price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No image diagnosis, static advice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AgroStar / DeHaat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Marketplace + advice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Commerce-driven, brand bias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IBM Watson Decision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Sensor analytics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Enterprise pricing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mKisan SMS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SMS reach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One-way, generic, no history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WhatsApp groups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Peer wisdom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Unverifiable, no archive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6 / 35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Scope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7 / 35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Scope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In-Scope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Mobile-first PWA (any modern browser)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Auth, profile, multi-farm + crop cycles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Vision diagnosis (1–5 images) → structured JSON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Streaming AI advisor with voice input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Weather, soil, UV, NDVI per farm polygon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Diagnosis history, geo-clustered heatmap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Mandi prices, community Q&amp;A,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Out-of-Scope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Native Android / iOS apps (PWA covers it)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E-commerce / payment integration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Offline / on-device inference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Government scheme application workflows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Drone or IoT sensor ingestion (future)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8 / 35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Objectives of the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Build a free, multilingual, mobile-first farmer cockpit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Diagnose crop disease from a phone photo with structured remedies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Ground every advisor reply in the farmer’s actual farms &amp; last diagnosis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Make external AI failures invisible to the user via provider fallback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Surface weather + NDVI + market + community in a single dashboard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Stay deployable on free / near-zero tiers up to ~10⁴ users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9 / 35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Project Plan — 5-month sprint timeline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493776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Window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1. Requirement &amp;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1–2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SRS, repo bootstrap, Supabase v1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2. Auth &amp; profile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Signup / login, RLS, middleware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3. Diagnose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4–6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Vision pipeline, history, heatmap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4. Advisor chat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7–8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Streaming SSE, dynamic prompt, voice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5. Farms &amp; crops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9–10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Polygon map, cycles, auto tasks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6. Weather &amp; market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11–12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Agro API, mandi prices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7. Community &amp; alerts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13–14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Posts, replies, AI replies, prefs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8. Test &amp; harden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15–16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Unit/integration, RLS audit, load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9. Docs &amp; demo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Wk 17–20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Report, deck, demo video, deploy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10 / 35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11 / 35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Functional Requirements (highlights)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20 FRs in total — full list in Chapter 5 of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FR-1 / FR-2 — Sign up + auto-create profile via DB trigger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FR-3 / FR-4 / FR-5 — Manage farms, crop cycles &amp; auto-generated tasks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FR-6 / FR-7 — Multi-image diagnosis with 3-tier vision fallback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FR-8 / FR-9 — History list and geo-clustered heatmap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FR-10 / FR-11 — SSE-streamed advisor grounded in user context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FR-12 / FR-18 — Voice input + multilingual replies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FR-13 / FR-14 — Weather, soil, UV, NDVI + mandi prices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FR-15 / FR-16 / FR-17 — Community board, alert prefs, notifications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12 / 35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Non-Functional Requirements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ID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Category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Performance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P95 API &lt; 1.5 s (excl. LLM); LLM TTFT &lt; 3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Availability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Auto-fallback keeps advisor usable on provider outage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Security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JWT cookie, RLS-ready, no secrets in client bundle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NFR-5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Privacy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Per-user folder enforced by storage policy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Usability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Lighthouse mobile score ≥ 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Localisation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Replies in user’s preferred Indian language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NFR-9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Maintainability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TS strict, ESLint, modular lib/* services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13 / 35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14 / 35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High-Level Architecture</a:t>
            </a:r>
          </a:p>
        </p:txBody>
      </p:sp>
      <p:pic>
        <p:nvPicPr>
          <p:cNvPr id="4" name="Picture 3" descr="0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84" y="1188720"/>
            <a:ext cx="797532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6.1 — Three-tier architecture with multi-provider AI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15 / 35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Use-Case Overview</a:t>
            </a:r>
          </a:p>
        </p:txBody>
      </p:sp>
      <p:pic>
        <p:nvPicPr>
          <p:cNvPr id="4" name="Picture 3" descr="08_use_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8845" y="1188720"/>
            <a:ext cx="67740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6.2 — Farmer interactions across 16 use cases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16 / 35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Level 0 — Context</a:t>
            </a:r>
          </a:p>
        </p:txBody>
      </p:sp>
      <p:pic>
        <p:nvPicPr>
          <p:cNvPr id="4" name="Picture 3" descr="02_dfd_level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335" y="1188720"/>
            <a:ext cx="894102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6.3 — TheAgriDoctor and the four external actors it talks to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17 / 35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Level 1 — Major Subsystems</a:t>
            </a:r>
          </a:p>
        </p:txBody>
      </p:sp>
      <p:pic>
        <p:nvPicPr>
          <p:cNvPr id="4" name="Picture 3" descr="03_dfd_leve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84" y="1188720"/>
            <a:ext cx="797532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6.4 — Seven subsystems and four data stores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18 / 35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Level 2 — Diagnose Module</a:t>
            </a:r>
          </a:p>
        </p:txBody>
      </p:sp>
      <p:pic>
        <p:nvPicPr>
          <p:cNvPr id="4" name="Picture 3" descr="04_dfd_level2_diagn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06" y="1188720"/>
            <a:ext cx="907508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6.5 — Image upload → vision AI → JSON report → persist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19 / 35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Level 2 — Advisor Chat</a:t>
            </a:r>
          </a:p>
        </p:txBody>
      </p:sp>
      <p:pic>
        <p:nvPicPr>
          <p:cNvPr id="4" name="Picture 3" descr="05_dfd_level2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06" y="1188720"/>
            <a:ext cx="907508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6.6 — Context-grounded streaming chat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20 / 35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DFD Level 3 — Vision Inference Pipeline</a:t>
            </a:r>
          </a:p>
        </p:txBody>
      </p:sp>
      <p:pic>
        <p:nvPicPr>
          <p:cNvPr id="4" name="Picture 3" descr="06_dfd_level3_vi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306" y="1188720"/>
            <a:ext cx="9075083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6.7 — Three OpenRouter models then Gemini fallback, with retry on parse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21 / 35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Database — ER Diagram</a:t>
            </a:r>
          </a:p>
        </p:txBody>
      </p:sp>
      <p:pic>
        <p:nvPicPr>
          <p:cNvPr id="4" name="Picture 3" descr="07_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8184" y="1188720"/>
            <a:ext cx="797532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6.8 — Eight Postgres tables with RLS-ready policies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22 / 35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Flowchart — Disease Diagnosis</a:t>
            </a:r>
          </a:p>
        </p:txBody>
      </p:sp>
      <p:pic>
        <p:nvPicPr>
          <p:cNvPr id="4" name="Picture 3" descr="09_flowchart_diagn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7639" y="1188720"/>
            <a:ext cx="3096417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6.9 — End-to-end flow with one-shot retry on invalid JSON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23 / 35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Flowchart — AI Advisor Chat</a:t>
            </a:r>
          </a:p>
        </p:txBody>
      </p:sp>
      <p:pic>
        <p:nvPicPr>
          <p:cNvPr id="4" name="Picture 3" descr="10_flowchart_advi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195" y="1188720"/>
            <a:ext cx="33493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6.10 — Streaming OpenRouter → Gemini fallback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24 / 35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Sequence — Authentication &amp; Profile</a:t>
            </a:r>
          </a:p>
        </p:txBody>
      </p:sp>
      <p:pic>
        <p:nvPicPr>
          <p:cNvPr id="4" name="Picture 3" descr="11_sequence_au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6159" y="1188720"/>
            <a:ext cx="4919376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546E7A"/>
                </a:solidFill>
                <a:latin typeface="Calibri"/>
              </a:rPr>
              <a:t>Figure 6.11 — Trigger-driven public.users provisioning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25 / 35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26 / 35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Frontend &amp; Edge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Next.js 14 (App Router) on Vercel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React 18 + Server Components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Tailwind CSS + shadcn/ui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Zustand + TanStack Query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Leaflet + react-leaflet-cluster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react-markdown + remark-gfm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TypeScript 5 (strict) + ESLint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Backend, Data &amp;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Next.js Route Handlers (Node 20)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Supabase Postgres 15 + Storage + Auth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@supabase/ssr (JWT cookie middleware)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OpenRouter — Nemotron, Llama 3.3, Gemma-3, Qwen-VL, Llama-Vision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Google Gemini 2.5 Flash (text + vision fallback)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OpenWeather Agro-Monitoring (weather, soil, NDVI)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OpenWeatherMap tiles for radar overlays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27 / 35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Low-Level Design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src/lib/ai.ts → orchestrates 3 vision models then Gemini, with retry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src/app/api/chat/route.ts → SSE-stream from OpenRouter, falls back to Gemini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src/lib/auth.ts → getUser() helper used by every Route Handler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src/lib/upload.ts → client-side image compression before Supabase Storage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src/lib/crop-tasks.ts → stage-wise auto-task generator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DB trigger on_auth_user_created → auto-creates public.users from auth.users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src/components/diagnose/heatmap-map-inner.tsx → dynamic-imported to keep TTFB 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28 / 35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Testing &amp;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29 / 35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Test Cases (selected)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1722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TC-ID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FR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Scenario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B5E20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Upload 1 valid tomato leaf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TC-D3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FR-6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Upload 6 images → 400 error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TC-D4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OpenRouter 429 → Gemini fallback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TC-A1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FR-10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Send chat → SSE stream + persisted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TC-A2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Reply references active rice crop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TC-A3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FR-12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Hindi voice input transcribed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TC-A4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FR-18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Switch to Telugu — replies in Telugu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63238"/>
                          </a:solidFill>
                        </a:rPr>
                        <a:t>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30 / 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Current Status &amp; What’s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Done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All 9 modules functionally complete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Supabase schema + community migration shipped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OpenRouter + Gemini fallback verified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Lighthouse mobile ≥ 90 on dashboard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Capstone deck + demo video produced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Open /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69164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Move to paid OpenRouter for larger pilots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Service-worker push notifications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i18n on the UI (only assistant text is localised today)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Offline-aware diagnosis queue</a:t>
            </a:r>
          </a:p>
          <a:p>
            <a:pPr algn="l">
              <a:spcAft>
                <a:spcPts val="600"/>
              </a:spcAft>
            </a:pPr>
            <a:r>
              <a:rPr sz="1500">
                <a:solidFill>
                  <a:srgbClr val="263238"/>
                </a:solidFill>
                <a:latin typeface="Calibri"/>
              </a:rPr>
              <a:t>•  External pilot in 3 districts (50 farmers)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31 / 35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Lessons Learnt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Free LLM tiers without provider fallback are a recipe for outages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Grounding the prompt in real farm + crop data is the single biggest UX lift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React Server Components dramatically cut client bundle size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Supabase RLS is powerful but unforgiving — write policies before any insert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Lazy-loading map libraries (dynamic ssr:false) keeps TTFB acceptable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Two-week sprints with a written acceptance checklist kept us aligned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32 / 35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"/>
            <a:ext cx="114300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Selected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546E7A"/>
                </a:solidFill>
                <a:latin typeface="Calibri"/>
              </a:rPr>
              <a:t>Full bibliography (25 items) is in Chapter 12 of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Mohanty et al. (2016) — Deep Learning for Plant Disease Detection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Ferentinos (2018) — Deep learning models for plant disease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FAO (2021) — State of Food and Agriculture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Kamilaris &amp; Prenafeta-Boldú (2018) — Deep learning in agriculture: a survey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Vercel — Next.js 14 App Router docs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Supabase — Platform Documentation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OpenRouter — API Reference</a:t>
            </a:r>
          </a:p>
          <a:p>
            <a:pPr algn="l">
              <a:spcAft>
                <a:spcPts val="600"/>
              </a:spcAft>
            </a:pPr>
            <a:r>
              <a:rPr sz="1800">
                <a:solidFill>
                  <a:srgbClr val="263238"/>
                </a:solidFill>
                <a:latin typeface="Calibri"/>
              </a:rPr>
              <a:t>•  Google DeepMind — Gemini 1.5 Technical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29400"/>
            <a:ext cx="12191695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46E7A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46E7A"/>
                </a:solidFill>
                <a:latin typeface="Calibri"/>
              </a:rPr>
              <a:t>33 / 35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108960"/>
            <a:ext cx="11247120" cy="36576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F8F00"/>
                </a:solidFill>
                <a:latin typeface="Calibr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97280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34 / 35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0">
                <a:solidFill>
                  <a:srgbClr val="FF8F00"/>
                </a:solidFill>
                <a:latin typeface="Calibri"/>
              </a:rPr>
              <a:t>Questions, suggestions and ideas welcome.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29768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0">
                <a:solidFill>
                  <a:srgbClr val="CFD8DC"/>
                </a:solidFill>
                <a:latin typeface="Calibri"/>
              </a:rPr>
              <a:t>TheAgriDoctor  —  helping farmers, one photo at a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B0BEC5"/>
                </a:solidFill>
                <a:latin typeface="Calibri"/>
              </a:rPr>
              <a:t>TheAgriDoctor  •  Capstone Project (CSE445)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B0BEC5"/>
                </a:solidFill>
                <a:latin typeface="Calibri"/>
              </a:rPr>
              <a:t>35 / 35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